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A704"/>
    <a:srgbClr val="6C510A"/>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05" autoAdjust="0"/>
    <p:restoredTop sz="96323" autoAdjust="0"/>
  </p:normalViewPr>
  <p:slideViewPr>
    <p:cSldViewPr snapToGrid="0">
      <p:cViewPr varScale="1">
        <p:scale>
          <a:sx n="109" d="100"/>
          <a:sy n="109" d="100"/>
        </p:scale>
        <p:origin x="208" y="26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pracyaim/Downloads/Campaign_Data_Wee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pracyaim/Downloads/Campaign_Data_Wee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pracyaim/Downloads/Campaign_Data_Wee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pracyaim/Downloads/Campaign_Data_Week.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rgbClr val="D2D2D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ED7331"/>
          </a:solidFill>
          <a:ln w="19050">
            <a:solidFill>
              <a:schemeClr val="lt1"/>
            </a:solidFill>
          </a:ln>
          <a:effectLst/>
        </c:spPr>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3"/>
        <c:spPr>
          <a:solidFill>
            <a:schemeClr val="accent1"/>
          </a:solidFill>
          <a:ln w="19050">
            <a:solidFill>
              <a:schemeClr val="lt1"/>
            </a:solidFill>
          </a:ln>
          <a:effectLst/>
        </c:spPr>
        <c:marker>
          <c:symbol val="none"/>
        </c:marker>
        <c:dLbl>
          <c:idx val="0"/>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234"/>
        <c:spPr>
          <a:solidFill>
            <a:schemeClr val="accent2"/>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fld id="{53F40D6A-463A-F349-B8F9-1B28F6DD68F5}" type="CATEGORYNAME">
                  <a:rPr lang="en-US"/>
                  <a:pPr>
                    <a:defRPr sz="1200" b="0" i="0" u="none" strike="noStrike" kern="1200" baseline="0">
                      <a:solidFill>
                        <a:schemeClr val="tx1">
                          <a:lumMod val="75000"/>
                          <a:lumOff val="25000"/>
                        </a:schemeClr>
                      </a:solidFill>
                      <a:latin typeface="+mn-lt"/>
                      <a:ea typeface="+mn-ea"/>
                      <a:cs typeface="+mn-cs"/>
                    </a:defRPr>
                  </a:pPr>
                  <a:t>[CATEGORY NAME]</a:t>
                </a:fld>
                <a:r>
                  <a:rPr lang="en-US" baseline="0"/>
                  <a:t>
</a:t>
                </a:r>
                <a:fld id="{78271A0A-DA87-D343-BCCC-2B94914EA63E}" type="PERCENTAGE">
                  <a:rPr lang="en-US" baseline="0"/>
                  <a:pPr>
                    <a:defRPr sz="1200" b="0" i="0" u="none" strike="noStrike" kern="1200" baseline="0">
                      <a:solidFill>
                        <a:schemeClr val="tx1">
                          <a:lumMod val="75000"/>
                          <a:lumOff val="25000"/>
                        </a:schemeClr>
                      </a:solidFill>
                      <a:latin typeface="+mn-lt"/>
                      <a:ea typeface="+mn-ea"/>
                      <a:cs typeface="+mn-cs"/>
                    </a:defRPr>
                  </a:pPr>
                  <a:t>[PERCENTAGE]</a:t>
                </a:fld>
                <a:endParaRPr lang="en-US" baseline="0"/>
              </a:p>
            </c:rich>
          </c:tx>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235"/>
        <c:spPr>
          <a:solidFill>
            <a:schemeClr val="accent1"/>
          </a:solidFill>
          <a:ln w="19050">
            <a:solidFill>
              <a:schemeClr val="lt1"/>
            </a:solidFill>
          </a:ln>
          <a:effectLst/>
        </c:spPr>
        <c:marker>
          <c:symbol val="none"/>
        </c:marker>
        <c:dLbl>
          <c:idx val="0"/>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236"/>
        <c:spPr>
          <a:solidFill>
            <a:schemeClr val="accent1"/>
          </a:solidFill>
          <a:ln w="19050">
            <a:solidFill>
              <a:schemeClr val="lt1"/>
            </a:solidFill>
          </a:ln>
          <a:effectLst/>
        </c:spPr>
      </c:pivotFmt>
      <c:pivotFmt>
        <c:idx val="237"/>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fld id="{53F40D6A-463A-F349-B8F9-1B28F6DD68F5}" type="CATEGORYNAME">
                  <a:rPr lang="en-US"/>
                  <a:pPr>
                    <a:defRPr sz="1200" b="0" i="0" u="none" strike="noStrike" kern="1200" baseline="0">
                      <a:solidFill>
                        <a:schemeClr val="tx1">
                          <a:lumMod val="75000"/>
                          <a:lumOff val="25000"/>
                        </a:schemeClr>
                      </a:solidFill>
                      <a:latin typeface="+mn-lt"/>
                      <a:ea typeface="+mn-ea"/>
                      <a:cs typeface="+mn-cs"/>
                    </a:defRPr>
                  </a:pPr>
                  <a:t>[CATEGORY NAME]</a:t>
                </a:fld>
                <a:r>
                  <a:rPr lang="en-US" baseline="0"/>
                  <a:t>
</a:t>
                </a:r>
                <a:fld id="{78271A0A-DA87-D343-BCCC-2B94914EA63E}" type="PERCENTAGE">
                  <a:rPr lang="en-US" baseline="0"/>
                  <a:pPr>
                    <a:defRPr sz="1200" b="0" i="0" u="none" strike="noStrike" kern="1200" baseline="0">
                      <a:solidFill>
                        <a:schemeClr val="tx1">
                          <a:lumMod val="75000"/>
                          <a:lumOff val="25000"/>
                        </a:schemeClr>
                      </a:solidFill>
                      <a:latin typeface="+mn-lt"/>
                      <a:ea typeface="+mn-ea"/>
                      <a:cs typeface="+mn-cs"/>
                    </a:defRPr>
                  </a:pPr>
                  <a:t>[PERCENTAGE]</a:t>
                </a:fld>
                <a:endParaRPr lang="en-US" baseline="0"/>
              </a:p>
            </c:rich>
          </c:tx>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238"/>
        <c:spPr>
          <a:solidFill>
            <a:schemeClr val="accent1"/>
          </a:solidFill>
          <a:ln w="19050">
            <a:solidFill>
              <a:schemeClr val="lt1"/>
            </a:solidFill>
          </a:ln>
          <a:effectLst/>
        </c:spPr>
        <c:marker>
          <c:symbol val="none"/>
        </c:marker>
        <c:dLbl>
          <c:idx val="0"/>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239"/>
        <c:spPr>
          <a:solidFill>
            <a:schemeClr val="accent1"/>
          </a:solidFill>
          <a:ln w="19050">
            <a:solidFill>
              <a:schemeClr val="lt1"/>
            </a:solidFill>
          </a:ln>
          <a:effectLst/>
        </c:spPr>
      </c:pivotFmt>
      <c:pivotFmt>
        <c:idx val="240"/>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fld id="{53F40D6A-463A-F349-B8F9-1B28F6DD68F5}" type="CATEGORYNAME">
                  <a:rPr lang="en-US"/>
                  <a:pPr>
                    <a:defRPr sz="1200" b="0" i="0" u="none" strike="noStrike" kern="1200" baseline="0">
                      <a:solidFill>
                        <a:schemeClr val="tx1">
                          <a:lumMod val="75000"/>
                          <a:lumOff val="25000"/>
                        </a:schemeClr>
                      </a:solidFill>
                      <a:latin typeface="+mn-lt"/>
                      <a:ea typeface="+mn-ea"/>
                      <a:cs typeface="+mn-cs"/>
                    </a:defRPr>
                  </a:pPr>
                  <a:t>[CATEGORY NAME]</a:t>
                </a:fld>
                <a:r>
                  <a:rPr lang="en-US" baseline="0"/>
                  <a:t>
</a:t>
                </a:r>
                <a:fld id="{78271A0A-DA87-D343-BCCC-2B94914EA63E}" type="PERCENTAGE">
                  <a:rPr lang="en-US" baseline="0"/>
                  <a:pPr>
                    <a:defRPr sz="1200" b="0" i="0" u="none" strike="noStrike" kern="1200" baseline="0">
                      <a:solidFill>
                        <a:schemeClr val="tx1">
                          <a:lumMod val="75000"/>
                          <a:lumOff val="25000"/>
                        </a:schemeClr>
                      </a:solidFill>
                      <a:latin typeface="+mn-lt"/>
                      <a:ea typeface="+mn-ea"/>
                      <a:cs typeface="+mn-cs"/>
                    </a:defRPr>
                  </a:pPr>
                  <a:t>[PERCENTAGE]</a:t>
                </a:fld>
                <a:endParaRPr lang="en-US" baseline="0"/>
              </a:p>
            </c:rich>
          </c:tx>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241"/>
        <c:spPr>
          <a:solidFill>
            <a:schemeClr val="accent1"/>
          </a:solidFill>
          <a:ln w="19050">
            <a:solidFill>
              <a:schemeClr val="lt1"/>
            </a:solidFill>
          </a:ln>
          <a:effectLst/>
        </c:spPr>
        <c:marker>
          <c:symbol val="none"/>
        </c:marker>
        <c:dLbl>
          <c:idx val="0"/>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242"/>
        <c:spPr>
          <a:solidFill>
            <a:schemeClr val="accent1"/>
          </a:solidFill>
          <a:ln w="19050">
            <a:solidFill>
              <a:schemeClr val="lt1"/>
            </a:solidFill>
          </a:ln>
          <a:effectLst/>
        </c:spPr>
      </c:pivotFmt>
      <c:pivotFmt>
        <c:idx val="243"/>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fld id="{53F40D6A-463A-F349-B8F9-1B28F6DD68F5}" type="CATEGORYNAME">
                  <a:rPr lang="en-US"/>
                  <a:pPr>
                    <a:defRPr sz="1200" b="0" i="0" u="none" strike="noStrike" kern="1200" baseline="0">
                      <a:solidFill>
                        <a:schemeClr val="tx1">
                          <a:lumMod val="75000"/>
                          <a:lumOff val="25000"/>
                        </a:schemeClr>
                      </a:solidFill>
                      <a:latin typeface="+mn-lt"/>
                      <a:ea typeface="+mn-ea"/>
                      <a:cs typeface="+mn-cs"/>
                    </a:defRPr>
                  </a:pPr>
                  <a:t>[CATEGORY NAME]</a:t>
                </a:fld>
                <a:r>
                  <a:rPr lang="en-US" baseline="0"/>
                  <a:t>
</a:t>
                </a:r>
                <a:fld id="{78271A0A-DA87-D343-BCCC-2B94914EA63E}" type="PERCENTAGE">
                  <a:rPr lang="en-US" baseline="0"/>
                  <a:pPr>
                    <a:defRPr sz="1200" b="0" i="0" u="none" strike="noStrike" kern="1200" baseline="0">
                      <a:solidFill>
                        <a:schemeClr val="tx1">
                          <a:lumMod val="75000"/>
                          <a:lumOff val="25000"/>
                        </a:schemeClr>
                      </a:solidFill>
                      <a:latin typeface="+mn-lt"/>
                      <a:ea typeface="+mn-ea"/>
                      <a:cs typeface="+mn-cs"/>
                    </a:defRPr>
                  </a:pPr>
                  <a:t>[PERCENTAGE]</a:t>
                </a:fld>
                <a:endParaRPr lang="en-US" baseline="0"/>
              </a:p>
            </c:rich>
          </c:tx>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244"/>
        <c:spPr>
          <a:solidFill>
            <a:schemeClr val="accent1"/>
          </a:solidFill>
          <a:ln w="19050">
            <a:solidFill>
              <a:schemeClr val="lt1"/>
            </a:solidFill>
          </a:ln>
          <a:effectLst/>
        </c:spPr>
        <c:marker>
          <c:symbol val="none"/>
        </c:marker>
        <c:dLbl>
          <c:idx val="0"/>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245"/>
        <c:spPr>
          <a:solidFill>
            <a:schemeClr val="accent1"/>
          </a:solidFill>
          <a:ln w="19050">
            <a:solidFill>
              <a:schemeClr val="lt1"/>
            </a:solidFill>
          </a:ln>
          <a:effectLst/>
        </c:spPr>
      </c:pivotFmt>
      <c:pivotFmt>
        <c:idx val="246"/>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fld id="{53F40D6A-463A-F349-B8F9-1B28F6DD68F5}" type="CATEGORYNAME">
                  <a:rPr lang="en-US"/>
                  <a:pPr>
                    <a:defRPr sz="1200" b="0" i="0" u="none" strike="noStrike" kern="1200" baseline="0">
                      <a:solidFill>
                        <a:schemeClr val="tx1">
                          <a:lumMod val="75000"/>
                          <a:lumOff val="25000"/>
                        </a:schemeClr>
                      </a:solidFill>
                      <a:latin typeface="+mn-lt"/>
                      <a:ea typeface="+mn-ea"/>
                      <a:cs typeface="+mn-cs"/>
                    </a:defRPr>
                  </a:pPr>
                  <a:t>[CATEGORY NAME]</a:t>
                </a:fld>
                <a:r>
                  <a:rPr lang="en-US" baseline="0"/>
                  <a:t>
</a:t>
                </a:r>
                <a:fld id="{78271A0A-DA87-D343-BCCC-2B94914EA63E}" type="PERCENTAGE">
                  <a:rPr lang="en-US" baseline="0"/>
                  <a:pPr>
                    <a:defRPr sz="1200" b="0" i="0" u="none" strike="noStrike" kern="1200" baseline="0">
                      <a:solidFill>
                        <a:schemeClr val="tx1">
                          <a:lumMod val="75000"/>
                          <a:lumOff val="25000"/>
                        </a:schemeClr>
                      </a:solidFill>
                      <a:latin typeface="+mn-lt"/>
                      <a:ea typeface="+mn-ea"/>
                      <a:cs typeface="+mn-cs"/>
                    </a:defRPr>
                  </a:pPr>
                  <a:t>[PERCENTAGE]</a:t>
                </a:fld>
                <a:endParaRPr lang="en-US" baseline="0"/>
              </a:p>
            </c:rich>
          </c:tx>
          <c:spPr>
            <a:solidFill>
              <a:srgbClr val="D2D2D2"/>
            </a:solid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s>
    <c:plotArea>
      <c:layout/>
      <c:doughnutChart>
        <c:varyColors val="1"/>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ivotFmts>
      <c:pivotFmt>
        <c:idx val="0"/>
        <c:spPr>
          <a:solidFill>
            <a:srgbClr val="D2D2D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ED7331"/>
          </a:solidFill>
          <a:ln w="19050">
            <a:solidFill>
              <a:schemeClr val="lt1"/>
            </a:solidFill>
          </a:ln>
          <a:effectLst/>
        </c:spPr>
      </c:pivotFmt>
      <c:pivotFmt>
        <c:idx val="2"/>
        <c:spPr>
          <a:solidFill>
            <a:schemeClr val="accent1"/>
          </a:solidFill>
          <a:ln w="19050">
            <a:solidFill>
              <a:schemeClr val="lt1"/>
            </a:solid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spPr>
            <a:solidFill>
              <a:srgbClr val="D2D2D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2"/>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99943015-9B78-F847-B2DE-C8F12A6A1F4E}" type="CATEGORYNAME">
                  <a:rPr lang="en-US"/>
                  <a:pPr>
                    <a:defRPr sz="900" b="0" i="0" u="none" strike="noStrike" kern="1200" baseline="0">
                      <a:solidFill>
                        <a:schemeClr val="tx1">
                          <a:lumMod val="75000"/>
                          <a:lumOff val="25000"/>
                        </a:schemeClr>
                      </a:solidFill>
                      <a:latin typeface="+mn-lt"/>
                      <a:ea typeface="+mn-ea"/>
                      <a:cs typeface="+mn-cs"/>
                    </a:defRPr>
                  </a:pPr>
                  <a:t>[CATEGORY NAME]</a:t>
                </a:fld>
                <a:r>
                  <a:rPr lang="en-US" baseline="0"/>
                  <a:t>
</a:t>
                </a:r>
                <a:fld id="{69A7CC19-3352-A24B-BA43-A9C4FE7150E2}" type="PERCENTAGE">
                  <a:rPr lang="en-US" baseline="0"/>
                  <a:pPr>
                    <a:defRPr sz="900" b="0" i="0" u="none" strike="noStrike" kern="1200" baseline="0">
                      <a:solidFill>
                        <a:schemeClr val="tx1">
                          <a:lumMod val="75000"/>
                          <a:lumOff val="25000"/>
                        </a:schemeClr>
                      </a:solidFill>
                      <a:latin typeface="+mn-lt"/>
                      <a:ea typeface="+mn-ea"/>
                      <a:cs typeface="+mn-cs"/>
                    </a:defRPr>
                  </a:pPr>
                  <a:t>[PERCENTAGE]</a:t>
                </a:fld>
                <a:endParaRPr lang="en-US" baseline="0"/>
              </a:p>
            </c:rich>
          </c:tx>
          <c:spPr>
            <a:solidFill>
              <a:srgbClr val="D2D2D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6"/>
        <c:spPr>
          <a:solidFill>
            <a:schemeClr val="accent3"/>
          </a:solidFill>
          <a:ln w="19050">
            <a:solidFill>
              <a:schemeClr val="lt1"/>
            </a:solidFill>
          </a:ln>
          <a:effectLst/>
        </c:spPr>
        <c:dLbl>
          <c:idx val="0"/>
          <c:spPr>
            <a:solidFill>
              <a:schemeClr val="bg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7"/>
        <c:spPr>
          <a:solidFill>
            <a:schemeClr val="accent1"/>
          </a:solidFill>
          <a:ln w="19050">
            <a:solidFill>
              <a:schemeClr val="lt1"/>
            </a:solidFill>
          </a:ln>
          <a:effectLst/>
        </c:spPr>
        <c:dLbl>
          <c:idx val="0"/>
          <c:spPr>
            <a:solidFill>
              <a:srgbClr val="D2D2D2"/>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8.5637393767705378E-2"/>
                  <c:h val="0.12023148148148148"/>
                </c:manualLayout>
              </c15:layout>
            </c:ext>
          </c:extLst>
        </c:dLbl>
      </c:pivotFmt>
      <c:pivotFmt>
        <c:idx val="8"/>
        <c:spPr>
          <a:solidFill>
            <a:schemeClr val="accent1"/>
          </a:solidFill>
          <a:ln w="19050">
            <a:solidFill>
              <a:schemeClr val="lt1"/>
            </a:solidFill>
          </a:ln>
          <a:effectLst/>
        </c:spPr>
        <c:marker>
          <c:symbol val="none"/>
        </c:marker>
        <c:dLbl>
          <c:idx val="0"/>
          <c:spPr>
            <a:solidFill>
              <a:srgbClr val="D2D2D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spPr>
            <a:solidFill>
              <a:srgbClr val="D2D2D2"/>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8.5637393767705378E-2"/>
                  <c:h val="0.12023148148148148"/>
                </c:manualLayout>
              </c15:layout>
            </c:ext>
          </c:extLst>
        </c:dLbl>
      </c:pivotFmt>
      <c:pivotFmt>
        <c:idx val="10"/>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99943015-9B78-F847-B2DE-C8F12A6A1F4E}" type="CATEGORYNAME">
                  <a:rPr lang="en-US"/>
                  <a:pPr>
                    <a:defRPr sz="900" b="0" i="0" u="none" strike="noStrike" kern="1200" baseline="0">
                      <a:solidFill>
                        <a:schemeClr val="tx1">
                          <a:lumMod val="75000"/>
                          <a:lumOff val="25000"/>
                        </a:schemeClr>
                      </a:solidFill>
                      <a:latin typeface="+mn-lt"/>
                      <a:ea typeface="+mn-ea"/>
                      <a:cs typeface="+mn-cs"/>
                    </a:defRPr>
                  </a:pPr>
                  <a:t>[CATEGORY NAME]</a:t>
                </a:fld>
                <a:r>
                  <a:rPr lang="en-US" baseline="0"/>
                  <a:t>
</a:t>
                </a:r>
                <a:fld id="{69A7CC19-3352-A24B-BA43-A9C4FE7150E2}" type="PERCENTAGE">
                  <a:rPr lang="en-US" baseline="0"/>
                  <a:pPr>
                    <a:defRPr sz="900" b="0" i="0" u="none" strike="noStrike" kern="1200" baseline="0">
                      <a:solidFill>
                        <a:schemeClr val="tx1">
                          <a:lumMod val="75000"/>
                          <a:lumOff val="25000"/>
                        </a:schemeClr>
                      </a:solidFill>
                      <a:latin typeface="+mn-lt"/>
                      <a:ea typeface="+mn-ea"/>
                      <a:cs typeface="+mn-cs"/>
                    </a:defRPr>
                  </a:pPr>
                  <a:t>[PERCENTAGE]</a:t>
                </a:fld>
                <a:endParaRPr lang="en-US" baseline="0"/>
              </a:p>
            </c:rich>
          </c:tx>
          <c:spPr>
            <a:solidFill>
              <a:srgbClr val="D2D2D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marker>
          <c:symbol val="none"/>
        </c:marker>
        <c:dLbl>
          <c:idx val="0"/>
          <c:spPr>
            <a:solidFill>
              <a:srgbClr val="D2D2D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13"/>
        <c:spPr>
          <a:solidFill>
            <a:schemeClr val="accent1"/>
          </a:solidFill>
          <a:ln w="19050">
            <a:solidFill>
              <a:schemeClr val="lt1"/>
            </a:solidFill>
          </a:ln>
          <a:effectLst/>
        </c:spPr>
        <c:dLbl>
          <c:idx val="0"/>
          <c:spPr>
            <a:solidFill>
              <a:srgbClr val="D2D2D2"/>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8.5637393767705378E-2"/>
                  <c:h val="0.12023148148148148"/>
                </c:manualLayout>
              </c15:layout>
            </c:ext>
          </c:extLst>
        </c:dLbl>
      </c:pivotFmt>
      <c:pivotFmt>
        <c:idx val="14"/>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99943015-9B78-F847-B2DE-C8F12A6A1F4E}" type="CATEGORYNAME">
                  <a:rPr lang="en-US"/>
                  <a:pPr>
                    <a:defRPr sz="900" b="0" i="0" u="none" strike="noStrike" kern="1200" baseline="0">
                      <a:solidFill>
                        <a:schemeClr val="tx1">
                          <a:lumMod val="75000"/>
                          <a:lumOff val="25000"/>
                        </a:schemeClr>
                      </a:solidFill>
                      <a:latin typeface="+mn-lt"/>
                      <a:ea typeface="+mn-ea"/>
                      <a:cs typeface="+mn-cs"/>
                    </a:defRPr>
                  </a:pPr>
                  <a:t>[CATEGORY NAME]</a:t>
                </a:fld>
                <a:r>
                  <a:rPr lang="en-US" baseline="0"/>
                  <a:t>
</a:t>
                </a:r>
                <a:fld id="{69A7CC19-3352-A24B-BA43-A9C4FE7150E2}" type="PERCENTAGE">
                  <a:rPr lang="en-US" baseline="0"/>
                  <a:pPr>
                    <a:defRPr sz="900" b="0" i="0" u="none" strike="noStrike" kern="1200" baseline="0">
                      <a:solidFill>
                        <a:schemeClr val="tx1">
                          <a:lumMod val="75000"/>
                          <a:lumOff val="25000"/>
                        </a:schemeClr>
                      </a:solidFill>
                      <a:latin typeface="+mn-lt"/>
                      <a:ea typeface="+mn-ea"/>
                      <a:cs typeface="+mn-cs"/>
                    </a:defRPr>
                  </a:pPr>
                  <a:t>[PERCENTAGE]</a:t>
                </a:fld>
                <a:endParaRPr lang="en-US" baseline="0"/>
              </a:p>
            </c:rich>
          </c:tx>
          <c:spPr>
            <a:solidFill>
              <a:srgbClr val="D2D2D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extLst>
            <c:ext xmlns:c15="http://schemas.microsoft.com/office/drawing/2012/chart" uri="{CE6537A1-D6FC-4f65-9D91-7224C49458BB}">
              <c15:dlblFieldTable/>
              <c15:showDataLabelsRange val="0"/>
            </c:ext>
          </c:extLst>
        </c:dLbl>
      </c:pivotFmt>
      <c:pivotFmt>
        <c:idx val="15"/>
        <c:spPr>
          <a:solidFill>
            <a:schemeClr val="accent1"/>
          </a:solidFill>
          <a:ln w="19050">
            <a:solidFill>
              <a:schemeClr val="lt1"/>
            </a:solidFill>
          </a:ln>
          <a:effectLst/>
        </c:spPr>
      </c:pivotFmt>
    </c:pivotFmts>
    <c:plotArea>
      <c:layout/>
      <c:doughnutChart>
        <c:varyColors val="1"/>
        <c:ser>
          <c:idx val="0"/>
          <c:order val="0"/>
          <c:tx>
            <c:v>Total</c:v>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34F-AE42-9895-C42A98AD370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34F-AE42-9895-C42A98AD3700}"/>
              </c:ext>
            </c:extLst>
          </c:dPt>
          <c:dPt>
            <c:idx val="2"/>
            <c:bubble3D val="0"/>
            <c:spPr>
              <a:solidFill>
                <a:srgbClr val="DDA704"/>
              </a:solidFill>
              <a:ln w="19050">
                <a:solidFill>
                  <a:schemeClr val="lt1"/>
                </a:solidFill>
              </a:ln>
              <a:effectLst/>
            </c:spPr>
            <c:extLst>
              <c:ext xmlns:c16="http://schemas.microsoft.com/office/drawing/2014/chart" uri="{C3380CC4-5D6E-409C-BE32-E72D297353CC}">
                <c16:uniqueId val="{00000005-934F-AE42-9895-C42A98AD3700}"/>
              </c:ext>
            </c:extLst>
          </c:dPt>
          <c:dLbls>
            <c:dLbl>
              <c:idx val="0"/>
              <c:spPr>
                <a:solidFill>
                  <a:srgbClr val="D2D2D2"/>
                </a:solid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14428846853118293"/>
                      <c:h val="0.12023149734044725"/>
                    </c:manualLayout>
                  </c15:layout>
                </c:ext>
                <c:ext xmlns:c16="http://schemas.microsoft.com/office/drawing/2014/chart" uri="{C3380CC4-5D6E-409C-BE32-E72D297353CC}">
                  <c16:uniqueId val="{00000001-934F-AE42-9895-C42A98AD3700}"/>
                </c:ext>
              </c:extLst>
            </c:dLbl>
            <c:dLbl>
              <c:idx val="1"/>
              <c:tx>
                <c:rich>
                  <a:bodyPr/>
                  <a:lstStyle/>
                  <a:p>
                    <a:fld id="{99943015-9B78-F847-B2DE-C8F12A6A1F4E}" type="CATEGORYNAME">
                      <a:rPr lang="en-US"/>
                      <a:pPr/>
                      <a:t>[CATEGORY NAME]</a:t>
                    </a:fld>
                    <a:r>
                      <a:rPr lang="en-US" baseline="0"/>
                      <a:t>
</a:t>
                    </a:r>
                    <a:fld id="{69A7CC19-3352-A24B-BA43-A9C4FE7150E2}" type="PERCENTAGE">
                      <a:rPr lang="en-US" baseline="0"/>
                      <a:pPr/>
                      <a:t>[PERCENTAGE]</a:t>
                    </a:fld>
                    <a:endParaRPr lang="en-US" baseline="0"/>
                  </a:p>
                </c:rich>
              </c:tx>
              <c:showLegendKey val="0"/>
              <c:showVal val="1"/>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34F-AE42-9895-C42A98AD3700}"/>
                </c:ext>
              </c:extLst>
            </c:dLbl>
            <c:spPr>
              <a:solidFill>
                <a:srgbClr val="D2D2D2"/>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Lit>
              <c:ptCount val="3"/>
              <c:pt idx="0">
                <c:v>Email</c:v>
              </c:pt>
              <c:pt idx="1">
                <c:v>Instagram</c:v>
              </c:pt>
              <c:pt idx="2">
                <c:v>Web Banner</c:v>
              </c:pt>
            </c:strLit>
          </c:cat>
          <c:val>
            <c:numLit>
              <c:formatCode>General</c:formatCode>
              <c:ptCount val="3"/>
              <c:pt idx="0">
                <c:v>7909.3100000000049</c:v>
              </c:pt>
              <c:pt idx="1">
                <c:v>3873.4100000000003</c:v>
              </c:pt>
              <c:pt idx="2">
                <c:v>2876.8800000000006</c:v>
              </c:pt>
            </c:numLit>
          </c:val>
          <c:extLst>
            <c:ext xmlns:c16="http://schemas.microsoft.com/office/drawing/2014/chart" uri="{C3380CC4-5D6E-409C-BE32-E72D297353CC}">
              <c16:uniqueId val="{00000006-934F-AE42-9895-C42A98AD3700}"/>
            </c:ext>
          </c:extLst>
        </c:ser>
        <c:dLbls>
          <c:showLegendKey val="0"/>
          <c:showVal val="0"/>
          <c:showCatName val="0"/>
          <c:showSerName val="0"/>
          <c:showPercent val="0"/>
          <c:showBubbleSize val="0"/>
          <c:showLeaderLines val="0"/>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[Campaign_Data_Week.xlsx]Sheet5!PivotTable2</c:name>
    <c:fmtId val="11"/>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Sheet5!$B$1:$B$2</c:f>
              <c:strCache>
                <c:ptCount val="1"/>
                <c:pt idx="0">
                  <c:v>A</c:v>
                </c:pt>
              </c:strCache>
            </c:strRef>
          </c:tx>
          <c:spPr>
            <a:solidFill>
              <a:schemeClr val="accent1"/>
            </a:solidFill>
            <a:ln>
              <a:noFill/>
            </a:ln>
            <a:effectLst/>
          </c:spPr>
          <c:invertIfNegative val="0"/>
          <c:cat>
            <c:multiLvlStrRef>
              <c:f>Sheet5!$A$3:$A$9</c:f>
              <c:multiLvlStrCache>
                <c:ptCount val="3"/>
                <c:lvl>
                  <c:pt idx="0">
                    <c:v>New</c:v>
                  </c:pt>
                  <c:pt idx="1">
                    <c:v>New</c:v>
                  </c:pt>
                  <c:pt idx="2">
                    <c:v>New</c:v>
                  </c:pt>
                </c:lvl>
                <c:lvl>
                  <c:pt idx="0">
                    <c:v>Email</c:v>
                  </c:pt>
                  <c:pt idx="1">
                    <c:v>Instagram</c:v>
                  </c:pt>
                  <c:pt idx="2">
                    <c:v>Web Banner</c:v>
                  </c:pt>
                </c:lvl>
              </c:multiLvlStrCache>
            </c:multiLvlStrRef>
          </c:cat>
          <c:val>
            <c:numRef>
              <c:f>Sheet5!$B$3:$B$9</c:f>
              <c:numCache>
                <c:formatCode>General</c:formatCode>
                <c:ptCount val="3"/>
                <c:pt idx="0">
                  <c:v>2124.4700000000003</c:v>
                </c:pt>
                <c:pt idx="1">
                  <c:v>969.46</c:v>
                </c:pt>
                <c:pt idx="2">
                  <c:v>633.06000000000006</c:v>
                </c:pt>
              </c:numCache>
            </c:numRef>
          </c:val>
          <c:extLst>
            <c:ext xmlns:c16="http://schemas.microsoft.com/office/drawing/2014/chart" uri="{C3380CC4-5D6E-409C-BE32-E72D297353CC}">
              <c16:uniqueId val="{00000000-1BC0-8F4F-9CDA-194360CB5D27}"/>
            </c:ext>
          </c:extLst>
        </c:ser>
        <c:ser>
          <c:idx val="1"/>
          <c:order val="1"/>
          <c:tx>
            <c:strRef>
              <c:f>Sheet5!$C$1:$C$2</c:f>
              <c:strCache>
                <c:ptCount val="1"/>
                <c:pt idx="0">
                  <c:v>B</c:v>
                </c:pt>
              </c:strCache>
            </c:strRef>
          </c:tx>
          <c:spPr>
            <a:solidFill>
              <a:srgbClr val="DDA704"/>
            </a:solidFill>
            <a:ln>
              <a:noFill/>
            </a:ln>
            <a:effectLst/>
          </c:spPr>
          <c:invertIfNegative val="0"/>
          <c:cat>
            <c:multiLvlStrRef>
              <c:f>Sheet5!$A$3:$A$9</c:f>
              <c:multiLvlStrCache>
                <c:ptCount val="3"/>
                <c:lvl>
                  <c:pt idx="0">
                    <c:v>New</c:v>
                  </c:pt>
                  <c:pt idx="1">
                    <c:v>New</c:v>
                  </c:pt>
                  <c:pt idx="2">
                    <c:v>New</c:v>
                  </c:pt>
                </c:lvl>
                <c:lvl>
                  <c:pt idx="0">
                    <c:v>Email</c:v>
                  </c:pt>
                  <c:pt idx="1">
                    <c:v>Instagram</c:v>
                  </c:pt>
                  <c:pt idx="2">
                    <c:v>Web Banner</c:v>
                  </c:pt>
                </c:lvl>
              </c:multiLvlStrCache>
            </c:multiLvlStrRef>
          </c:cat>
          <c:val>
            <c:numRef>
              <c:f>Sheet5!$C$3:$C$9</c:f>
              <c:numCache>
                <c:formatCode>General</c:formatCode>
                <c:ptCount val="3"/>
                <c:pt idx="0">
                  <c:v>1382.3799999999999</c:v>
                </c:pt>
                <c:pt idx="1">
                  <c:v>416.14</c:v>
                </c:pt>
                <c:pt idx="2">
                  <c:v>318.92000000000007</c:v>
                </c:pt>
              </c:numCache>
            </c:numRef>
          </c:val>
          <c:extLst>
            <c:ext xmlns:c16="http://schemas.microsoft.com/office/drawing/2014/chart" uri="{C3380CC4-5D6E-409C-BE32-E72D297353CC}">
              <c16:uniqueId val="{00000001-1BC0-8F4F-9CDA-194360CB5D27}"/>
            </c:ext>
          </c:extLst>
        </c:ser>
        <c:dLbls>
          <c:showLegendKey val="0"/>
          <c:showVal val="0"/>
          <c:showCatName val="0"/>
          <c:showSerName val="0"/>
          <c:showPercent val="0"/>
          <c:showBubbleSize val="0"/>
        </c:dLbls>
        <c:gapWidth val="219"/>
        <c:overlap val="100"/>
        <c:axId val="1595772416"/>
        <c:axId val="1595775104"/>
      </c:barChart>
      <c:catAx>
        <c:axId val="1595772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5775104"/>
        <c:crosses val="autoZero"/>
        <c:auto val="1"/>
        <c:lblAlgn val="ctr"/>
        <c:lblOffset val="100"/>
        <c:noMultiLvlLbl val="0"/>
      </c:catAx>
      <c:valAx>
        <c:axId val="1595775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57724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[Campaign_Data_Week.xlsx]Sheet1!PivotTable13</c:name>
    <c:fmtId val="7"/>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howLegendKey val="0"/>
          <c:showVal val="0"/>
          <c:showCatName val="0"/>
          <c:showSerName val="1"/>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howLegendKey val="0"/>
          <c:showVal val="0"/>
          <c:showCatName val="0"/>
          <c:showSerName val="1"/>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
      </c:pivotFmt>
      <c:pivotFmt>
        <c:idx val="16"/>
        <c:spPr>
          <a:solidFill>
            <a:schemeClr val="accent1"/>
          </a:solidFill>
          <a:ln>
            <a:noFill/>
          </a:ln>
          <a:effectLst/>
        </c:spPr>
      </c:pivotFmt>
      <c:pivotFmt>
        <c:idx val="17"/>
        <c:spPr>
          <a:solidFill>
            <a:schemeClr val="accent2"/>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Lst>
        </c:dLbl>
      </c:pivotFmt>
      <c:pivotFmt>
        <c:idx val="18"/>
        <c:spPr>
          <a:solidFill>
            <a:schemeClr val="accent2"/>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2"/>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Lst>
        </c:dLbl>
      </c:pivotFmt>
      <c:pivotFmt>
        <c:idx val="22"/>
        <c:spPr>
          <a:solidFill>
            <a:schemeClr val="accent2"/>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2"/>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Lst>
        </c:dLbl>
      </c:pivotFmt>
      <c:pivotFmt>
        <c:idx val="26"/>
        <c:spPr>
          <a:solidFill>
            <a:schemeClr val="accent2"/>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Sheet1!$F$3</c:f>
              <c:strCache>
                <c:ptCount val="1"/>
                <c:pt idx="0">
                  <c:v>Campaign B</c:v>
                </c:pt>
              </c:strCache>
            </c:strRef>
          </c:tx>
          <c:spPr>
            <a:solidFill>
              <a:schemeClr val="accent1"/>
            </a:solidFill>
            <a:ln>
              <a:noFill/>
            </a:ln>
            <a:effectLst/>
          </c:spPr>
          <c:invertIfNegative val="0"/>
          <c:dLbls>
            <c:dLbl>
              <c:idx val="1"/>
              <c:layout>
                <c:manualLayout>
                  <c:x val="-4.5231464003590099E-2"/>
                  <c:y val="-1.9706665508059561E-2"/>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4-21E0-BB44-8573-5E892314F5F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Sheet1!$E$4:$E$6</c:f>
              <c:strCache>
                <c:ptCount val="2"/>
                <c:pt idx="0">
                  <c:v>Total Sales</c:v>
                </c:pt>
                <c:pt idx="1">
                  <c:v>New  Customer Sales</c:v>
                </c:pt>
              </c:strCache>
            </c:strRef>
          </c:cat>
          <c:val>
            <c:numRef>
              <c:f>Sheet1!$F$4:$F$6</c:f>
              <c:numCache>
                <c:formatCode>General</c:formatCode>
                <c:ptCount val="2"/>
                <c:pt idx="0">
                  <c:v>8790.0400000000009</c:v>
                </c:pt>
                <c:pt idx="1">
                  <c:v>2117.44</c:v>
                </c:pt>
              </c:numCache>
            </c:numRef>
          </c:val>
          <c:extLst>
            <c:ext xmlns:c16="http://schemas.microsoft.com/office/drawing/2014/chart" uri="{C3380CC4-5D6E-409C-BE32-E72D297353CC}">
              <c16:uniqueId val="{00000000-21E0-BB44-8573-5E892314F5F5}"/>
            </c:ext>
          </c:extLst>
        </c:ser>
        <c:ser>
          <c:idx val="1"/>
          <c:order val="1"/>
          <c:tx>
            <c:strRef>
              <c:f>Sheet1!$G$3</c:f>
              <c:strCache>
                <c:ptCount val="1"/>
                <c:pt idx="0">
                  <c:v>Campaign A</c:v>
                </c:pt>
              </c:strCache>
            </c:strRef>
          </c:tx>
          <c:spPr>
            <a:solidFill>
              <a:srgbClr val="DDA704"/>
            </a:solidFill>
            <a:ln>
              <a:noFill/>
            </a:ln>
            <a:effectLst/>
          </c:spPr>
          <c:invertIfNegative val="0"/>
          <c:dLbls>
            <c:dLbl>
              <c:idx val="0"/>
              <c:layout>
                <c:manualLayout>
                  <c:x val="1.6447805092214593E-2"/>
                  <c:y val="0"/>
                </c:manualLayout>
              </c:layout>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1-21E0-BB44-8573-5E892314F5F5}"/>
                </c:ext>
              </c:extLst>
            </c:dLbl>
            <c:dLbl>
              <c:idx val="1"/>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2-21E0-BB44-8573-5E892314F5F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Sheet1!$E$4:$E$6</c:f>
              <c:strCache>
                <c:ptCount val="2"/>
                <c:pt idx="0">
                  <c:v>Total Sales</c:v>
                </c:pt>
                <c:pt idx="1">
                  <c:v>New  Customer Sales</c:v>
                </c:pt>
              </c:strCache>
            </c:strRef>
          </c:cat>
          <c:val>
            <c:numRef>
              <c:f>Sheet1!$G$4:$G$6</c:f>
              <c:numCache>
                <c:formatCode>General</c:formatCode>
                <c:ptCount val="2"/>
                <c:pt idx="0">
                  <c:v>5869.56</c:v>
                </c:pt>
                <c:pt idx="1">
                  <c:v>3726.99</c:v>
                </c:pt>
              </c:numCache>
            </c:numRef>
          </c:val>
          <c:extLst>
            <c:ext xmlns:c16="http://schemas.microsoft.com/office/drawing/2014/chart" uri="{C3380CC4-5D6E-409C-BE32-E72D297353CC}">
              <c16:uniqueId val="{00000003-21E0-BB44-8573-5E892314F5F5}"/>
            </c:ext>
          </c:extLst>
        </c:ser>
        <c:dLbls>
          <c:showLegendKey val="0"/>
          <c:showVal val="0"/>
          <c:showCatName val="0"/>
          <c:showSerName val="0"/>
          <c:showPercent val="0"/>
          <c:showBubbleSize val="0"/>
        </c:dLbls>
        <c:gapWidth val="219"/>
        <c:overlap val="-27"/>
        <c:axId val="1941826047"/>
        <c:axId val="1941830527"/>
      </c:barChart>
      <c:catAx>
        <c:axId val="19418260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41830527"/>
        <c:crosses val="autoZero"/>
        <c:auto val="1"/>
        <c:lblAlgn val="ctr"/>
        <c:lblOffset val="100"/>
        <c:noMultiLvlLbl val="0"/>
      </c:catAx>
      <c:valAx>
        <c:axId val="19418305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418260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12/5/25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12/5/25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4" name="Object 3"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12" Type="http://schemas.openxmlformats.org/officeDocument/2006/relationships/chart" Target="../charts/chart4.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249299"/>
          </a:xfrm>
        </p:spPr>
        <p:txBody>
          <a:bodyPr anchor="t"/>
          <a:lstStyle/>
          <a:p>
            <a:r>
              <a:rPr lang="en-GB" sz="1800" b="1" dirty="0">
                <a:solidFill>
                  <a:schemeClr val="accent1"/>
                </a:solidFill>
              </a:rPr>
              <a:t>Optimising New Customer Acquisition: Channel &amp; Campaign Performance Analysis</a:t>
            </a:r>
            <a:endParaRPr lang="en-US" sz="1800" b="1" dirty="0">
              <a:solidFill>
                <a:schemeClr val="accent1"/>
              </a:solidFill>
            </a:endParaRPr>
          </a:p>
        </p:txBody>
      </p:sp>
      <p:sp>
        <p:nvSpPr>
          <p:cNvPr id="2" name="Rectangle 1">
            <a:extLst>
              <a:ext uri="{FF2B5EF4-FFF2-40B4-BE49-F238E27FC236}">
                <a16:creationId xmlns:a16="http://schemas.microsoft.com/office/drawing/2014/main" id="{477E036F-AF50-32A5-AA87-4A97F3F6A88D}"/>
              </a:ext>
            </a:extLst>
          </p:cNvPr>
          <p:cNvSpPr/>
          <p:nvPr/>
        </p:nvSpPr>
        <p:spPr>
          <a:xfrm>
            <a:off x="602975" y="5161364"/>
            <a:ext cx="10986052" cy="1660336"/>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600" b="1" u="sng" dirty="0">
                <a:solidFill>
                  <a:schemeClr val="accent1"/>
                </a:solidFill>
                <a:effectLst/>
                <a:latin typeface="Trebuchet MS" panose="020B0703020202090204" pitchFamily="34" charset="0"/>
              </a:rPr>
              <a:t>Recommendation </a:t>
            </a:r>
          </a:p>
          <a:p>
            <a:endParaRPr lang="en-GB" sz="1600" b="1" u="sng" dirty="0">
              <a:solidFill>
                <a:schemeClr val="accent1"/>
              </a:solidFill>
              <a:effectLst/>
              <a:latin typeface="Trebuchet MS" panose="020B0703020202090204" pitchFamily="34" charset="0"/>
            </a:endParaRPr>
          </a:p>
          <a:p>
            <a:r>
              <a:rPr lang="en-GB" sz="1600" dirty="0">
                <a:solidFill>
                  <a:schemeClr val="accent1"/>
                </a:solidFill>
                <a:effectLst/>
                <a:latin typeface="Trebuchet MS" panose="020B0703020202090204" pitchFamily="34" charset="0"/>
              </a:rPr>
              <a:t>Prioritize Campaign A via Email to Drive New Customer Growth</a:t>
            </a:r>
          </a:p>
          <a:p>
            <a:r>
              <a:rPr lang="en-GB" sz="1600" dirty="0">
                <a:solidFill>
                  <a:schemeClr val="accent1"/>
                </a:solidFill>
                <a:effectLst/>
                <a:latin typeface="Trebuchet MS" panose="020B0703020202090204" pitchFamily="34" charset="0"/>
              </a:rPr>
              <a:t>Campaign A consistently outperformed Campaign B in driving new customer purchases, especially through the Email channel. </a:t>
            </a:r>
          </a:p>
          <a:p>
            <a:r>
              <a:rPr lang="en-GB" sz="1600" dirty="0">
                <a:solidFill>
                  <a:schemeClr val="accent1"/>
                </a:solidFill>
                <a:effectLst/>
                <a:latin typeface="Trebuchet MS" panose="020B0703020202090204" pitchFamily="34" charset="0"/>
              </a:rPr>
              <a:t>This combination offers the best ROI for acquisition-focused campaigns.</a:t>
            </a:r>
          </a:p>
        </p:txBody>
      </p:sp>
      <p:sp>
        <p:nvSpPr>
          <p:cNvPr id="8" name="Rectangle 7">
            <a:extLst>
              <a:ext uri="{FF2B5EF4-FFF2-40B4-BE49-F238E27FC236}">
                <a16:creationId xmlns:a16="http://schemas.microsoft.com/office/drawing/2014/main" id="{942B0D30-68D6-1748-728E-7FA73A5976EC}"/>
              </a:ext>
            </a:extLst>
          </p:cNvPr>
          <p:cNvSpPr/>
          <p:nvPr/>
        </p:nvSpPr>
        <p:spPr>
          <a:xfrm>
            <a:off x="736557" y="1463752"/>
            <a:ext cx="2328814" cy="415498"/>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50" dirty="0">
                <a:solidFill>
                  <a:schemeClr val="accent1"/>
                </a:solidFill>
              </a:rPr>
              <a:t>Total Sales Across Channel and Campaign</a:t>
            </a:r>
            <a:endParaRPr lang="en-US" sz="1200" b="1" dirty="0">
              <a:solidFill>
                <a:schemeClr val="bg2">
                  <a:lumMod val="10000"/>
                </a:schemeClr>
              </a:solidFill>
            </a:endParaRP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3998946" y="1324303"/>
            <a:ext cx="2328814" cy="577081"/>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50" b="1" dirty="0">
                <a:solidFill>
                  <a:schemeClr val="accent1"/>
                </a:solidFill>
              </a:rPr>
              <a:t>Campaign A outperformed B Across all channels for New Customers</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14" name="TextBox 13">
            <a:extLst>
              <a:ext uri="{FF2B5EF4-FFF2-40B4-BE49-F238E27FC236}">
                <a16:creationId xmlns:a16="http://schemas.microsoft.com/office/drawing/2014/main" id="{4CB343C7-E182-AB75-1FE4-53BC1F220EF2}"/>
              </a:ext>
            </a:extLst>
          </p:cNvPr>
          <p:cNvSpPr txBox="1"/>
          <p:nvPr/>
        </p:nvSpPr>
        <p:spPr>
          <a:xfrm>
            <a:off x="6903720" y="3234690"/>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err="1">
              <a:solidFill>
                <a:srgbClr val="575757"/>
              </a:solidFill>
            </a:endParaRPr>
          </a:p>
        </p:txBody>
      </p:sp>
      <p:graphicFrame>
        <p:nvGraphicFramePr>
          <p:cNvPr id="16" name="Chart 15" descr="Chart type: Doughnut. 'Channel': Email accounts for the majority of 'Sales ($)'.&#10;&#10;Description automatically generated">
            <a:extLst>
              <a:ext uri="{FF2B5EF4-FFF2-40B4-BE49-F238E27FC236}">
                <a16:creationId xmlns:a16="http://schemas.microsoft.com/office/drawing/2014/main" id="{EFFE9CCE-29A5-9B4A-94C1-288E322D516D}"/>
              </a:ext>
            </a:extLst>
          </p:cNvPr>
          <p:cNvGraphicFramePr>
            <a:graphicFrameLocks/>
          </p:cNvGraphicFramePr>
          <p:nvPr>
            <p:extLst>
              <p:ext uri="{D42A27DB-BD31-4B8C-83A1-F6EECF244321}">
                <p14:modId xmlns:p14="http://schemas.microsoft.com/office/powerpoint/2010/main" val="520566514"/>
              </p:ext>
            </p:extLst>
          </p:nvPr>
        </p:nvGraphicFramePr>
        <p:xfrm>
          <a:off x="7741082" y="2058682"/>
          <a:ext cx="3688616" cy="3102681"/>
        </p:xfrm>
        <a:graphic>
          <a:graphicData uri="http://schemas.openxmlformats.org/drawingml/2006/chart">
            <c:chart xmlns:c="http://schemas.openxmlformats.org/drawingml/2006/chart" xmlns:r="http://schemas.openxmlformats.org/officeDocument/2006/relationships" r:id="rId9"/>
          </a:graphicData>
        </a:graphic>
      </p:graphicFrame>
      <p:sp>
        <p:nvSpPr>
          <p:cNvPr id="19" name="Rectangle 18">
            <a:extLst>
              <a:ext uri="{FF2B5EF4-FFF2-40B4-BE49-F238E27FC236}">
                <a16:creationId xmlns:a16="http://schemas.microsoft.com/office/drawing/2014/main" id="{C8D23980-E91A-E002-3553-38C314D304EA}"/>
              </a:ext>
            </a:extLst>
          </p:cNvPr>
          <p:cNvSpPr/>
          <p:nvPr/>
        </p:nvSpPr>
        <p:spPr>
          <a:xfrm>
            <a:off x="8288885" y="1286780"/>
            <a:ext cx="2328814" cy="430887"/>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solidFill>
                  <a:schemeClr val="accent1"/>
                </a:solidFill>
                <a:effectLst/>
                <a:latin typeface="Trebuchet MS" panose="020B0703020202090204" pitchFamily="34" charset="0"/>
              </a:rPr>
              <a:t> </a:t>
            </a:r>
            <a:r>
              <a:rPr lang="en-GB" sz="1100" b="1" dirty="0">
                <a:solidFill>
                  <a:schemeClr val="accent1"/>
                </a:solidFill>
                <a:effectLst/>
                <a:latin typeface="Trebuchet MS" panose="020B0703020202090204" pitchFamily="34" charset="0"/>
              </a:rPr>
              <a:t>Email Was the Top-Performing Channel by Total Sales</a:t>
            </a:r>
            <a:endParaRPr lang="en-US" sz="1100" dirty="0">
              <a:solidFill>
                <a:schemeClr val="accent1"/>
              </a:solidFill>
            </a:endParaRPr>
          </a:p>
        </p:txBody>
      </p:sp>
      <p:graphicFrame>
        <p:nvGraphicFramePr>
          <p:cNvPr id="21" name="Chart 20" descr="Chart type: Doughnut. 'Channel': Email accounts for the majority of 'Sales ($)'.&#10;&#10;Description automatically generated">
            <a:extLst>
              <a:ext uri="{FF2B5EF4-FFF2-40B4-BE49-F238E27FC236}">
                <a16:creationId xmlns:a16="http://schemas.microsoft.com/office/drawing/2014/main" id="{AB53972C-3D1B-C74A-BB29-3A09F8FA2822}"/>
              </a:ext>
            </a:extLst>
          </p:cNvPr>
          <p:cNvGraphicFramePr>
            <a:graphicFrameLocks/>
          </p:cNvGraphicFramePr>
          <p:nvPr>
            <p:extLst>
              <p:ext uri="{D42A27DB-BD31-4B8C-83A1-F6EECF244321}">
                <p14:modId xmlns:p14="http://schemas.microsoft.com/office/powerpoint/2010/main" val="1874489754"/>
              </p:ext>
            </p:extLst>
          </p:nvPr>
        </p:nvGraphicFramePr>
        <p:xfrm>
          <a:off x="7645971" y="1715465"/>
          <a:ext cx="4114168" cy="3307511"/>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23" name="Chart 22">
            <a:extLst>
              <a:ext uri="{FF2B5EF4-FFF2-40B4-BE49-F238E27FC236}">
                <a16:creationId xmlns:a16="http://schemas.microsoft.com/office/drawing/2014/main" id="{CFC4CC29-E3D2-879C-C804-54E60EBAE639}"/>
              </a:ext>
            </a:extLst>
          </p:cNvPr>
          <p:cNvGraphicFramePr>
            <a:graphicFrameLocks/>
          </p:cNvGraphicFramePr>
          <p:nvPr>
            <p:extLst>
              <p:ext uri="{D42A27DB-BD31-4B8C-83A1-F6EECF244321}">
                <p14:modId xmlns:p14="http://schemas.microsoft.com/office/powerpoint/2010/main" val="2734121376"/>
              </p:ext>
            </p:extLst>
          </p:nvPr>
        </p:nvGraphicFramePr>
        <p:xfrm>
          <a:off x="3821290" y="1906693"/>
          <a:ext cx="3293534" cy="2802467"/>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0" name="Chart 9">
            <a:extLst>
              <a:ext uri="{FF2B5EF4-FFF2-40B4-BE49-F238E27FC236}">
                <a16:creationId xmlns:a16="http://schemas.microsoft.com/office/drawing/2014/main" id="{1FB21229-621B-63C4-027F-0B2076058820}"/>
              </a:ext>
            </a:extLst>
          </p:cNvPr>
          <p:cNvGraphicFramePr>
            <a:graphicFrameLocks/>
          </p:cNvGraphicFramePr>
          <p:nvPr>
            <p:extLst>
              <p:ext uri="{D42A27DB-BD31-4B8C-83A1-F6EECF244321}">
                <p14:modId xmlns:p14="http://schemas.microsoft.com/office/powerpoint/2010/main" val="2827769303"/>
              </p:ext>
            </p:extLst>
          </p:nvPr>
        </p:nvGraphicFramePr>
        <p:xfrm>
          <a:off x="573403" y="2017638"/>
          <a:ext cx="3088558" cy="2691522"/>
        </p:xfrm>
        <a:graphic>
          <a:graphicData uri="http://schemas.openxmlformats.org/drawingml/2006/chart">
            <c:chart xmlns:c="http://schemas.openxmlformats.org/drawingml/2006/chart" xmlns:r="http://schemas.openxmlformats.org/officeDocument/2006/relationships" r:id="rId12"/>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2.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3471</TotalTime>
  <Words>83</Words>
  <Application>Microsoft Macintosh PowerPoint</Application>
  <PresentationFormat>Widescreen</PresentationFormat>
  <Paragraphs>14</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Optimising New Customer Acquisition: Channel &amp; Campaign Performance Analysis</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Title]</dc:title>
  <dc:creator>Scobee, Kyle</dc:creator>
  <cp:lastModifiedBy>pracy keys</cp:lastModifiedBy>
  <cp:revision>12</cp:revision>
  <cp:lastPrinted>2016-04-06T18:59:25Z</cp:lastPrinted>
  <dcterms:created xsi:type="dcterms:W3CDTF">2025-04-28T17:07:03Z</dcterms:created>
  <dcterms:modified xsi:type="dcterms:W3CDTF">2025-12-04T19:48:08Z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